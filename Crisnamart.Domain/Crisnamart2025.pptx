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16"/>
  </p:notesMasterIdLst>
  <p:sldIdLst>
    <p:sldId id="256" r:id="rId2"/>
    <p:sldId id="257" r:id="rId3"/>
    <p:sldId id="268" r:id="rId4"/>
    <p:sldId id="26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9" r:id="rId14"/>
    <p:sldId id="270" r:id="rId15"/>
  </p:sldIdLst>
  <p:sldSz cx="9144000" cy="5143500" type="screen16x9"/>
  <p:notesSz cx="6858000" cy="9144000"/>
  <p:embeddedFontLst>
    <p:embeddedFont>
      <p:font typeface="Lato" panose="020F0502020204030203" pitchFamily="34" charset="0"/>
      <p:regular r:id="rId17"/>
      <p:bold r:id="rId18"/>
      <p:italic r:id="rId19"/>
      <p:boldItalic r:id="rId20"/>
    </p:embeddedFont>
    <p:embeddedFont>
      <p:font typeface="Montserrat" panose="00000500000000000000" pitchFamily="2" charset="0"/>
      <p:regular r:id="rId21"/>
      <p:bold r:id="rId22"/>
      <p:italic r:id="rId23"/>
      <p:boldItalic r:id="rId24"/>
    </p:embeddedFont>
    <p:embeddedFont>
      <p:font typeface="Roboto" panose="020000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f87997393_0_7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f87997393_0_7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f87997393_0_8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f87997393_0_8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f87997393_0_8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f87997393_0_8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92015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f87997393_0_8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1f87997393_0_8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f87997393_0_8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1f87997393_0_8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1f87997393_0_8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1f87997393_0_8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9b73ca83e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9b73ca83e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9b73ca83e4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9b73ca83e4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9b73ca83e4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9b73ca83e4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9b73ca83e4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9b73ca83e4_1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f87997393_0_14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1f87997393_0_14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f87997393_0_8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1f87997393_0_8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37784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descr="offset_comp_406605.jpg"/>
          <p:cNvPicPr preferRelativeResize="0"/>
          <p:nvPr/>
        </p:nvPicPr>
        <p:blipFill rotWithShape="1">
          <a:blip r:embed="rId2">
            <a:alphaModFix amt="66000"/>
          </a:blip>
          <a:srcRect l="20991" t="2690" r="40112" b="39565"/>
          <a:stretch/>
        </p:blipFill>
        <p:spPr>
          <a:xfrm>
            <a:off x="0" y="0"/>
            <a:ext cx="5157900" cy="5143500"/>
          </a:xfrm>
          <a:prstGeom prst="rtTriangle">
            <a:avLst/>
          </a:prstGeom>
          <a:noFill/>
          <a:ln>
            <a:noFill/>
          </a:ln>
        </p:spPr>
      </p:pic>
      <p:pic>
        <p:nvPicPr>
          <p:cNvPr id="11" name="Google Shape;11;p2" descr="offset_comp_342327_edtied.jpg"/>
          <p:cNvPicPr preferRelativeResize="0"/>
          <p:nvPr/>
        </p:nvPicPr>
        <p:blipFill rotWithShape="1">
          <a:blip r:embed="rId3">
            <a:alphaModFix amt="31000"/>
          </a:blip>
          <a:srcRect l="14009" t="35833" r="43289" b="11297"/>
          <a:stretch/>
        </p:blipFill>
        <p:spPr>
          <a:xfrm rot="10800000">
            <a:off x="6976800" y="-25"/>
            <a:ext cx="2167200" cy="2012700"/>
          </a:xfrm>
          <a:prstGeom prst="rtTriangle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sp>
        <p:nvSpPr>
          <p:cNvPr id="15" name="Google Shape;15;p2"/>
          <p:cNvSpPr/>
          <p:nvPr/>
        </p:nvSpPr>
        <p:spPr>
          <a:xfrm rot="-5400000">
            <a:off x="5846" y="-4836"/>
            <a:ext cx="2291400" cy="2300100"/>
          </a:xfrm>
          <a:prstGeom prst="diagStrip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 flipH="1">
            <a:off x="652821" y="576768"/>
            <a:ext cx="2300100" cy="2291400"/>
          </a:xfrm>
          <a:prstGeom prst="diagStripe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9" name="Google Shape;19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" name="Google Shape;37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sp>
        <p:nvSpPr>
          <p:cNvPr id="39" name="Google Shape;39;p3">
            <a:hlinkClick r:id="" action="ppaction://noaction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3">
            <a:hlinkClick r:id="" action="ppaction://noaction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3">
            <a:hlinkClick r:id="" action="ppaction://noaction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3">
            <a:hlinkClick r:id="" action="ppaction://noaction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>
            <a:hlinkClick r:id="" action="ppaction://noaction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5">
            <a:hlinkClick r:id="" action="ppaction://noaction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5">
            <a:hlinkClick r:id="" action="ppaction://noaction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">
            <a:hlinkClick r:id="" action="ppaction://noaction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" name="Google Shape;70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71" name="Google Shape;71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" name="Google Shape;73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4" name="Google Shape;74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5" name="Google Shape;7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_alt1">
  <p:cSld name="TITLE_AND_BODY_2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>
            <a:spLocks noGrp="1"/>
          </p:cNvSpPr>
          <p:nvPr>
            <p:ph type="title"/>
          </p:nvPr>
        </p:nvSpPr>
        <p:spPr>
          <a:xfrm>
            <a:off x="361071" y="1924852"/>
            <a:ext cx="2304900" cy="179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4564200" y="0"/>
            <a:ext cx="45798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6"/>
          <p:cNvSpPr txBox="1">
            <a:spLocks noGrp="1"/>
          </p:cNvSpPr>
          <p:nvPr>
            <p:ph type="body" idx="1"/>
          </p:nvPr>
        </p:nvSpPr>
        <p:spPr>
          <a:xfrm>
            <a:off x="6451271" y="1924850"/>
            <a:ext cx="2304900" cy="179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marL="914400" lvl="1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6">
            <a:hlinkClick r:id="" action="ppaction://noaction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6">
            <a:hlinkClick r:id="" action="ppaction://noaction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6">
            <a:hlinkClick r:id="" action="ppaction://noaction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6">
            <a:hlinkClick r:id="" action="ppaction://noaction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" name="Google Shape;84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85" name="Google Shape;85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" name="Google Shape;87;p6"/>
          <p:cNvSpPr txBox="1">
            <a:spLocks noGrp="1"/>
          </p:cNvSpPr>
          <p:nvPr>
            <p:ph type="title" idx="2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8" name="Google Shape;8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>
            <a:hlinkClick r:id="" action="ppaction://noaction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8">
            <a:hlinkClick r:id="" action="ppaction://noaction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8">
            <a:hlinkClick r:id="" action="ppaction://noaction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8">
            <a:hlinkClick r:id="" action="ppaction://noaction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7" name="Google Shape;107;p8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08" name="Google Shape;108;p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" name="Google Shape;110;p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1" name="Google Shape;111;p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2" name="Google Shape;112;p8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3" name="Google Shape;11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>
            <a:hlinkClick r:id="" action="ppaction://noaction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0">
            <a:hlinkClick r:id="" action="ppaction://noaction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0">
            <a:hlinkClick r:id="" action="ppaction://noaction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0">
            <a:hlinkClick r:id="" action="ppaction://noaction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" name="Google Shape;129;p10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30" name="Google Shape;130;p10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0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" name="Google Shape;132;p1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3" name="Google Shape;133;p10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">
            <a:hlinkClick r:id="" action="ppaction://noaction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1">
            <a:hlinkClick r:id="" action="ppaction://noaction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1">
            <a:hlinkClick r:id="" action="ppaction://noaction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1">
            <a:hlinkClick r:id="" action="ppaction://noaction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0" name="Google Shape;140;p11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141" name="Google Shape;141;p11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1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1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1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1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1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1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1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1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1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1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1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1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1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1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9" name="Google Shape;159;p11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13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75" name="Google Shape;175;p13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3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7" name="Google Shape;177;p13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78" name="Google Shape;178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sp>
        <p:nvSpPr>
          <p:cNvPr id="179" name="Google Shape;179;p13">
            <a:hlinkClick r:id="" action="ppaction://noaction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3">
            <a:hlinkClick r:id="" action="ppaction://noaction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3">
            <a:hlinkClick r:id="" action="ppaction://noaction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">
            <a:hlinkClick r:id="" action="ppaction://noaction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14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85" name="Google Shape;185;p1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3" name="Google Shape;203;p14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04" name="Google Shape;204;p14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05" name="Google Shape;205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sp>
        <p:nvSpPr>
          <p:cNvPr id="206" name="Google Shape;206;p14">
            <a:hlinkClick r:id="" action="ppaction://noaction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4">
            <a:hlinkClick r:id="" action="ppaction://noaction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4">
            <a:hlinkClick r:id="" action="ppaction://noaction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4">
            <a:hlinkClick r:id="" action="ppaction://noaction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_alt3">
  <p:cSld name="TITLE_AND_BODY_1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16" descr="offset_comp_343059.jpg"/>
          <p:cNvPicPr preferRelativeResize="0"/>
          <p:nvPr/>
        </p:nvPicPr>
        <p:blipFill rotWithShape="1">
          <a:blip r:embed="rId2">
            <a:alphaModFix amt="80000"/>
          </a:blip>
          <a:srcRect l="30474" t="11955" r="30474" b="25870"/>
          <a:stretch/>
        </p:blipFill>
        <p:spPr>
          <a:xfrm rot="-5400000">
            <a:off x="113630" y="-105700"/>
            <a:ext cx="5142300" cy="5364300"/>
          </a:xfrm>
          <a:prstGeom prst="diagStripe">
            <a:avLst>
              <a:gd name="adj" fmla="val 50343"/>
            </a:avLst>
          </a:prstGeom>
          <a:noFill/>
          <a:ln>
            <a:noFill/>
          </a:ln>
        </p:spPr>
      </p:pic>
      <p:sp>
        <p:nvSpPr>
          <p:cNvPr id="214" name="Google Shape;214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15" name="Google Shape;215;p16"/>
          <p:cNvSpPr txBox="1">
            <a:spLocks noGrp="1"/>
          </p:cNvSpPr>
          <p:nvPr>
            <p:ph type="body" idx="1"/>
          </p:nvPr>
        </p:nvSpPr>
        <p:spPr>
          <a:xfrm>
            <a:off x="4018025" y="1567550"/>
            <a:ext cx="4318500" cy="176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  <a:defRPr>
                <a:solidFill>
                  <a:schemeClr val="dk2"/>
                </a:solidFill>
              </a:defRPr>
            </a:lvl1pPr>
            <a:lvl2pPr marL="914400" lvl="1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2pPr>
            <a:lvl3pPr marL="1371600" lvl="2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3pPr>
            <a:lvl4pPr marL="1828800" lvl="3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4pPr>
            <a:lvl5pPr marL="2286000" lvl="4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5pPr>
            <a:lvl6pPr marL="2743200" lvl="5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6pPr>
            <a:lvl7pPr marL="3200400" lvl="6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7pPr>
            <a:lvl8pPr marL="3657600" lvl="7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8pPr>
            <a:lvl9pPr marL="4114800" lvl="8" indent="-298450" rtl="0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6" name="Google Shape;21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sp>
        <p:nvSpPr>
          <p:cNvPr id="217" name="Google Shape;217;p16">
            <a:hlinkClick r:id="" action="ppaction://noaction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6">
            <a:hlinkClick r:id="" action="ppaction://noaction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6">
            <a:hlinkClick r:id="" action="ppaction://noaction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6">
            <a:hlinkClick r:id="" action="ppaction://noaction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1" name="Google Shape;221;p1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222" name="Google Shape;222;p1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4" r:id="rId5"/>
    <p:sldLayoutId id="2147483656" r:id="rId6"/>
    <p:sldLayoutId id="2147483657" r:id="rId7"/>
    <p:sldLayoutId id="2147483659" r:id="rId8"/>
    <p:sldLayoutId id="2147483660" r:id="rId9"/>
    <p:sldLayoutId id="2147483661" r:id="rId10"/>
    <p:sldLayoutId id="214748366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risnamart.netlify.app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hyperlink" Target="https://jazznube.com.ar/crisnamart/" TargetMode="Externa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"/>
          <p:cNvSpPr txBox="1">
            <a:spLocks noGrp="1"/>
          </p:cNvSpPr>
          <p:nvPr>
            <p:ph type="ctrTitle"/>
          </p:nvPr>
        </p:nvSpPr>
        <p:spPr>
          <a:xfrm>
            <a:off x="3218575" y="1005325"/>
            <a:ext cx="5712300" cy="26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2000"/>
              </a:spcBef>
              <a:spcAft>
                <a:spcPts val="0"/>
              </a:spcAft>
              <a:buNone/>
            </a:pPr>
            <a:r>
              <a:rPr lang="es-419" sz="3400">
                <a:solidFill>
                  <a:srgbClr val="283592"/>
                </a:solidFill>
                <a:latin typeface="Roboto"/>
                <a:ea typeface="Roboto"/>
                <a:cs typeface="Roboto"/>
                <a:sym typeface="Roboto"/>
              </a:rPr>
              <a:t>Proyecto de Prácticas</a:t>
            </a:r>
            <a:endParaRPr sz="3400">
              <a:solidFill>
                <a:srgbClr val="28359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rgbClr val="6D64E8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>
                <a:solidFill>
                  <a:srgbClr val="6D64E8"/>
                </a:solidFill>
                <a:latin typeface="Roboto"/>
                <a:ea typeface="Roboto"/>
                <a:cs typeface="Roboto"/>
                <a:sym typeface="Roboto"/>
              </a:rPr>
              <a:t>Tecnicatura Superior en Análisis de Sistemas</a:t>
            </a:r>
            <a:endParaRPr sz="2000" b="1">
              <a:solidFill>
                <a:srgbClr val="6D64E8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>
                <a:solidFill>
                  <a:srgbClr val="6D64E8"/>
                </a:solidFill>
                <a:latin typeface="Roboto"/>
                <a:ea typeface="Roboto"/>
                <a:cs typeface="Roboto"/>
                <a:sym typeface="Roboto"/>
              </a:rPr>
              <a:t>Prácticas Profesionalizantes I</a:t>
            </a:r>
            <a:endParaRPr sz="2000" b="1">
              <a:solidFill>
                <a:srgbClr val="6D64E8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>
                <a:solidFill>
                  <a:srgbClr val="6D64E8"/>
                </a:solidFill>
                <a:latin typeface="Roboto"/>
                <a:ea typeface="Roboto"/>
                <a:cs typeface="Roboto"/>
                <a:sym typeface="Roboto"/>
              </a:rPr>
              <a:t>Bazar “Crisnamart”</a:t>
            </a:r>
            <a:endParaRPr sz="2000" b="1">
              <a:solidFill>
                <a:srgbClr val="6D64E8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400">
              <a:solidFill>
                <a:srgbClr val="28359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p17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9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rgbClr val="6D64E8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>
                <a:solidFill>
                  <a:srgbClr val="6D64E8"/>
                </a:solidFill>
                <a:latin typeface="Roboto"/>
                <a:ea typeface="Roboto"/>
                <a:cs typeface="Roboto"/>
                <a:sym typeface="Roboto"/>
              </a:rPr>
              <a:t>Por Seling Alexander</a:t>
            </a:r>
            <a:endParaRPr sz="2000" b="1">
              <a:solidFill>
                <a:srgbClr val="6D64E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8"/>
          <p:cNvSpPr txBox="1">
            <a:spLocks noGrp="1"/>
          </p:cNvSpPr>
          <p:nvPr>
            <p:ph type="body" idx="1"/>
          </p:nvPr>
        </p:nvSpPr>
        <p:spPr>
          <a:xfrm>
            <a:off x="1249009" y="1968562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ctr"/>
            <a:r>
              <a:rPr lang="es-ES" sz="1400" dirty="0" err="1"/>
              <a:t>Crisnamart</a:t>
            </a:r>
            <a:r>
              <a:rPr lang="es-ES" sz="1400" dirty="0"/>
              <a:t> es un distribuidor mayorista de artículos de bazar con más de 40 años de trayectoria en el rubro.</a:t>
            </a:r>
          </a:p>
          <a:p>
            <a:pPr marL="285750" indent="-285750" algn="ctr"/>
            <a:r>
              <a:rPr lang="es-ES" sz="1400" dirty="0"/>
              <a:t>Ubicado en Av. Brig. Gral. Juan Manuel de Rosas 14045/57, González Catán, Provincia de Buenos Aires, cuenta con un amplio depósito propio y una extensa red de proveedores nacionales e importadores.</a:t>
            </a:r>
          </a:p>
          <a:p>
            <a:pPr marL="285750" indent="-285750" algn="ctr"/>
            <a:r>
              <a:rPr lang="es-ES" sz="1400" dirty="0"/>
              <a:t>Su actividad se centra en la venta mayorista y distribución de productos de bazar, plásticos, artículos de cocina y limpieza, atendiendo principalmente a comercios minoristas a nivel provincial y a revendedores de la zona.</a:t>
            </a:r>
          </a:p>
          <a:p>
            <a:pPr marL="285750" indent="-285750" algn="ctr"/>
            <a:r>
              <a:rPr lang="es-ES" sz="1400" dirty="0"/>
              <a:t>La empresa mantiene un trato directo y personalizado con sus clientes, priorizando la confianza y la atención inmediata.</a:t>
            </a:r>
          </a:p>
        </p:txBody>
      </p:sp>
      <p:pic>
        <p:nvPicPr>
          <p:cNvPr id="5" name="Imagen 4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6E2E9949-8450-6A93-6B8C-DD2CF3FF8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7824" y="111950"/>
            <a:ext cx="2635829" cy="18566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"/>
          <p:cNvSpPr txBox="1">
            <a:spLocks noGrp="1"/>
          </p:cNvSpPr>
          <p:nvPr>
            <p:ph type="title"/>
          </p:nvPr>
        </p:nvSpPr>
        <p:spPr>
          <a:xfrm>
            <a:off x="1266325" y="393750"/>
            <a:ext cx="7038900" cy="124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Resumen del proyecto</a:t>
            </a:r>
            <a:endParaRPr sz="2600" dirty="0"/>
          </a:p>
        </p:txBody>
      </p:sp>
      <p:sp>
        <p:nvSpPr>
          <p:cNvPr id="235" name="Google Shape;235;p1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ctr"/>
            <a:r>
              <a:rPr lang="es-419" sz="1400" dirty="0"/>
              <a:t>El trabajo analiza el sistema actual de </a:t>
            </a:r>
            <a:r>
              <a:rPr lang="es-419" sz="1400" dirty="0" err="1"/>
              <a:t>Crisnamart</a:t>
            </a:r>
            <a:r>
              <a:rPr lang="es-419" sz="1400" dirty="0"/>
              <a:t> y propone mejoras orientadas a la digitalización del negocio.</a:t>
            </a:r>
            <a:endParaRPr sz="1400" dirty="0"/>
          </a:p>
          <a:p>
            <a:pPr marL="285750" indent="-285750" algn="ctr">
              <a:spcBef>
                <a:spcPts val="1600"/>
              </a:spcBef>
            </a:pPr>
            <a:r>
              <a:rPr lang="es-419" sz="1400" dirty="0"/>
              <a:t>Como primer paso implementable, se desarrollará una </a:t>
            </a:r>
            <a:r>
              <a:rPr lang="es-419" sz="1400" dirty="0" err="1"/>
              <a:t>landing</a:t>
            </a:r>
            <a:r>
              <a:rPr lang="es-419" sz="1400" dirty="0"/>
              <a:t> page institucional con dominio propio, que redirija al catálogo de Jazz Nube y permita la comunicación directa por WhatsApp.</a:t>
            </a:r>
            <a:endParaRPr sz="1400" dirty="0"/>
          </a:p>
          <a:p>
            <a:pPr marL="285750" indent="-285750" algn="ctr">
              <a:spcBef>
                <a:spcPts val="1600"/>
              </a:spcBef>
              <a:spcAft>
                <a:spcPts val="1600"/>
              </a:spcAft>
            </a:pPr>
            <a:r>
              <a:rPr lang="es-419" sz="1400" dirty="0"/>
              <a:t>Se consideran además etapas futuras con mayor automatización, aunque implicarían costos adicionales o reprocesos hasta poder integrarse plenamente con el sistema de integración con Jazz Gestión.</a:t>
            </a: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1695149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Escala de tiempo&#10;&#10;Descripción generada automáticamente">
            <a:extLst>
              <a:ext uri="{FF2B5EF4-FFF2-40B4-BE49-F238E27FC236}">
                <a16:creationId xmlns:a16="http://schemas.microsoft.com/office/drawing/2014/main" id="{58B043B9-257F-0332-6D31-B9A2A0188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447" y="0"/>
            <a:ext cx="727510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229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Análisis de los problemas</a:t>
            </a:r>
            <a:endParaRPr/>
          </a:p>
        </p:txBody>
      </p:sp>
      <p:sp>
        <p:nvSpPr>
          <p:cNvPr id="241" name="Google Shape;241;p19"/>
          <p:cNvSpPr txBox="1"/>
          <p:nvPr/>
        </p:nvSpPr>
        <p:spPr>
          <a:xfrm>
            <a:off x="946807" y="1743644"/>
            <a:ext cx="732900" cy="8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FFFFFF"/>
              </a:solidFill>
            </a:endParaRPr>
          </a:p>
        </p:txBody>
      </p:sp>
      <p:sp>
        <p:nvSpPr>
          <p:cNvPr id="242" name="Google Shape;242;p19"/>
          <p:cNvSpPr txBox="1">
            <a:spLocks noGrp="1"/>
          </p:cNvSpPr>
          <p:nvPr>
            <p:ph type="body" idx="1"/>
          </p:nvPr>
        </p:nvSpPr>
        <p:spPr>
          <a:xfrm>
            <a:off x="1792425" y="1743675"/>
            <a:ext cx="6024000" cy="80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-419">
                <a:solidFill>
                  <a:srgbClr val="FFFFFF"/>
                </a:solidFill>
              </a:rPr>
              <a:t>Problemas Operativos </a:t>
            </a:r>
            <a:r>
              <a:rPr lang="es-419"/>
              <a:t>→</a:t>
            </a:r>
            <a:r>
              <a:rPr lang="es-419">
                <a:solidFill>
                  <a:srgbClr val="FFFFFF"/>
                </a:solidFill>
              </a:rPr>
              <a:t>  La ausencia de definición formal de roles genera superposición de tareas y dependencia de la gestión diaria para mantener la operación con clientes y proveedores.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43" name="Google Shape;243;p19"/>
          <p:cNvSpPr txBox="1"/>
          <p:nvPr/>
        </p:nvSpPr>
        <p:spPr>
          <a:xfrm>
            <a:off x="946807" y="2658481"/>
            <a:ext cx="732900" cy="8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FFFFFF"/>
              </a:solidFill>
            </a:endParaRPr>
          </a:p>
        </p:txBody>
      </p:sp>
      <p:sp>
        <p:nvSpPr>
          <p:cNvPr id="244" name="Google Shape;244;p19"/>
          <p:cNvSpPr txBox="1">
            <a:spLocks noGrp="1"/>
          </p:cNvSpPr>
          <p:nvPr>
            <p:ph type="body" idx="1"/>
          </p:nvPr>
        </p:nvSpPr>
        <p:spPr>
          <a:xfrm>
            <a:off x="1792425" y="2658525"/>
            <a:ext cx="6024000" cy="80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-419">
                <a:solidFill>
                  <a:srgbClr val="FFFFFF"/>
                </a:solidFill>
              </a:rPr>
              <a:t>Problemas Tecnológicos → El sistema de gestión se utiliza parcialmente, con errores de carga acumulados, convivencia con registros manuales, dificultando trazabilidad y toma de decisiones de largo plazo en base a datos.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45" name="Google Shape;245;p19"/>
          <p:cNvSpPr txBox="1"/>
          <p:nvPr/>
        </p:nvSpPr>
        <p:spPr>
          <a:xfrm>
            <a:off x="946807" y="3573344"/>
            <a:ext cx="732900" cy="8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sz="1300">
              <a:solidFill>
                <a:srgbClr val="FFFFFF"/>
              </a:solidFill>
            </a:endParaRPr>
          </a:p>
        </p:txBody>
      </p:sp>
      <p:sp>
        <p:nvSpPr>
          <p:cNvPr id="246" name="Google Shape;246;p19"/>
          <p:cNvSpPr txBox="1">
            <a:spLocks noGrp="1"/>
          </p:cNvSpPr>
          <p:nvPr>
            <p:ph type="body" idx="1"/>
          </p:nvPr>
        </p:nvSpPr>
        <p:spPr>
          <a:xfrm>
            <a:off x="1792425" y="3573375"/>
            <a:ext cx="6024000" cy="80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Problemas Comerciales → La empresa carece de una presencia digital atractiva y de herramientas para comunicar promociones o novedades de forma masiva, dependiendo casi por completo del contacto individual con cada cliente.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Objetivo del proyecto</a:t>
            </a:r>
            <a:endParaRPr dirty="0"/>
          </a:p>
        </p:txBody>
      </p:sp>
      <p:sp>
        <p:nvSpPr>
          <p:cNvPr id="252" name="Google Shape;252;p20"/>
          <p:cNvSpPr txBox="1">
            <a:spLocks noGrp="1"/>
          </p:cNvSpPr>
          <p:nvPr>
            <p:ph type="body" idx="1"/>
          </p:nvPr>
        </p:nvSpPr>
        <p:spPr>
          <a:xfrm>
            <a:off x="4018025" y="1567550"/>
            <a:ext cx="4318500" cy="2960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-419"/>
              <a:t>Mejorar la gestión y visibilidad de Crisnamart mediante soluciones digitales iniciales que faciliten la comunicación con clientes y la administración de información, sentando las bases para futuras mejoras tecnológicas y comerciales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42045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Propuestas de implementación</a:t>
            </a:r>
            <a:endParaRPr dirty="0"/>
          </a:p>
        </p:txBody>
      </p:sp>
      <p:sp>
        <p:nvSpPr>
          <p:cNvPr id="258" name="Google Shape;258;p21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-419" dirty="0" err="1"/>
              <a:t>Landing</a:t>
            </a:r>
            <a:r>
              <a:rPr lang="es-419" dirty="0"/>
              <a:t> page institucional</a:t>
            </a:r>
            <a:endParaRPr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-419" dirty="0"/>
              <a:t>Catálogo dinámico mediante CSV público</a:t>
            </a:r>
            <a:endParaRPr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-419" dirty="0"/>
              <a:t>Sistema de pedidos en PDF con base de datos externa</a:t>
            </a:r>
            <a:endParaRPr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-419" dirty="0"/>
              <a:t>E-</a:t>
            </a:r>
            <a:r>
              <a:rPr lang="es-419" dirty="0" err="1"/>
              <a:t>commerce</a:t>
            </a:r>
            <a:r>
              <a:rPr lang="es-419" dirty="0"/>
              <a:t> completo integrado con stock y facturación</a:t>
            </a:r>
            <a:endParaRPr dirty="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>
              <a:solidFill>
                <a:srgbClr val="FFFFFF"/>
              </a:solidFill>
            </a:endParaRPr>
          </a:p>
        </p:txBody>
      </p:sp>
      <p:pic>
        <p:nvPicPr>
          <p:cNvPr id="259" name="Google Shape;259;p21" descr="offset_comp_267026.jpg"/>
          <p:cNvPicPr preferRelativeResize="0"/>
          <p:nvPr/>
        </p:nvPicPr>
        <p:blipFill rotWithShape="1">
          <a:blip r:embed="rId3">
            <a:alphaModFix/>
          </a:blip>
          <a:srcRect l="39740" t="41470" r="17180" b="-6208"/>
          <a:stretch/>
        </p:blipFill>
        <p:spPr>
          <a:xfrm rot="-5400000">
            <a:off x="5710147" y="2704980"/>
            <a:ext cx="2431500" cy="2436000"/>
          </a:xfrm>
          <a:prstGeom prst="diagStripe">
            <a:avLst>
              <a:gd name="adj" fmla="val 50445"/>
            </a:avLst>
          </a:prstGeom>
          <a:noFill/>
          <a:ln>
            <a:noFill/>
          </a:ln>
        </p:spPr>
      </p:pic>
      <p:pic>
        <p:nvPicPr>
          <p:cNvPr id="260" name="Google Shape;260;p21" descr="offset_comp_457517_edited2.jpg"/>
          <p:cNvPicPr preferRelativeResize="0"/>
          <p:nvPr/>
        </p:nvPicPr>
        <p:blipFill rotWithShape="1">
          <a:blip r:embed="rId4">
            <a:alphaModFix/>
          </a:blip>
          <a:srcRect l="28499" t="35784" r="21977" b="-10133"/>
          <a:stretch/>
        </p:blipFill>
        <p:spPr>
          <a:xfrm rot="-5400000">
            <a:off x="5718946" y="1338207"/>
            <a:ext cx="2504700" cy="2509500"/>
          </a:xfrm>
          <a:prstGeom prst="diagStripe">
            <a:avLst>
              <a:gd name="adj" fmla="val 50445"/>
            </a:avLst>
          </a:prstGeom>
          <a:noFill/>
          <a:ln>
            <a:noFill/>
          </a:ln>
        </p:spPr>
      </p:pic>
      <p:pic>
        <p:nvPicPr>
          <p:cNvPr id="261" name="Google Shape;261;p21" descr="offset_comp_442889_edtied2.jpg"/>
          <p:cNvPicPr preferRelativeResize="0"/>
          <p:nvPr/>
        </p:nvPicPr>
        <p:blipFill rotWithShape="1">
          <a:blip r:embed="rId5">
            <a:alphaModFix/>
          </a:blip>
          <a:srcRect l="23925" t="16463" r="30743" b="15476"/>
          <a:stretch/>
        </p:blipFill>
        <p:spPr>
          <a:xfrm rot="5400000">
            <a:off x="6637386" y="2137210"/>
            <a:ext cx="2504700" cy="2509500"/>
          </a:xfrm>
          <a:prstGeom prst="diagStripe">
            <a:avLst>
              <a:gd name="adj" fmla="val 50445"/>
            </a:avLst>
          </a:prstGeom>
          <a:noFill/>
          <a:ln>
            <a:noFill/>
          </a:ln>
        </p:spPr>
      </p:pic>
      <p:sp>
        <p:nvSpPr>
          <p:cNvPr id="262" name="Google Shape;262;p21"/>
          <p:cNvSpPr/>
          <p:nvPr/>
        </p:nvSpPr>
        <p:spPr>
          <a:xfrm>
            <a:off x="7040600" y="3923575"/>
            <a:ext cx="2106350" cy="1222450"/>
          </a:xfrm>
          <a:custGeom>
            <a:avLst/>
            <a:gdLst/>
            <a:ahLst/>
            <a:cxnLst/>
            <a:rect l="l" t="t" r="r" b="b"/>
            <a:pathLst>
              <a:path w="84254" h="48898" extrusionOk="0">
                <a:moveTo>
                  <a:pt x="0" y="0"/>
                </a:moveTo>
                <a:lnTo>
                  <a:pt x="50319" y="0"/>
                </a:lnTo>
                <a:lnTo>
                  <a:pt x="84254" y="33935"/>
                </a:lnTo>
                <a:lnTo>
                  <a:pt x="84254" y="48898"/>
                </a:lnTo>
                <a:lnTo>
                  <a:pt x="48798" y="4889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4204500" cy="9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#1 – Landing page institucional</a:t>
            </a:r>
            <a:endParaRPr/>
          </a:p>
        </p:txBody>
      </p:sp>
      <p:sp>
        <p:nvSpPr>
          <p:cNvPr id="268" name="Google Shape;268;p22"/>
          <p:cNvSpPr txBox="1">
            <a:spLocks noGrp="1"/>
          </p:cNvSpPr>
          <p:nvPr>
            <p:ph type="body" idx="1"/>
          </p:nvPr>
        </p:nvSpPr>
        <p:spPr>
          <a:xfrm>
            <a:off x="732550" y="1972550"/>
            <a:ext cx="43638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Web estática con HTML/CSS/JS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Información de la empresa, ubicación, contacto, horarios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Redirección a Jazz Nube para clientes registrados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Costo: dominio .com.ar (hosting gratuito)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Mantenimiento: nulo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Ventaja: implementación inmediata, mejora imagen profesional</a:t>
            </a:r>
            <a:endParaRPr/>
          </a:p>
        </p:txBody>
      </p:sp>
      <p:pic>
        <p:nvPicPr>
          <p:cNvPr id="269" name="Google Shape;269;p22" descr="offset_comp_267026.jpg"/>
          <p:cNvPicPr preferRelativeResize="0"/>
          <p:nvPr/>
        </p:nvPicPr>
        <p:blipFill rotWithShape="1">
          <a:blip r:embed="rId3">
            <a:alphaModFix/>
          </a:blip>
          <a:srcRect l="39740" t="41470" r="17180" b="-6208"/>
          <a:stretch/>
        </p:blipFill>
        <p:spPr>
          <a:xfrm rot="-5400000">
            <a:off x="5710147" y="2704980"/>
            <a:ext cx="2431500" cy="2436000"/>
          </a:xfrm>
          <a:prstGeom prst="diagStripe">
            <a:avLst>
              <a:gd name="adj" fmla="val 50445"/>
            </a:avLst>
          </a:prstGeom>
          <a:noFill/>
          <a:ln>
            <a:noFill/>
          </a:ln>
        </p:spPr>
      </p:pic>
      <p:pic>
        <p:nvPicPr>
          <p:cNvPr id="270" name="Google Shape;270;p22" descr="offset_comp_457517_edited2.jpg"/>
          <p:cNvPicPr preferRelativeResize="0"/>
          <p:nvPr/>
        </p:nvPicPr>
        <p:blipFill rotWithShape="1">
          <a:blip r:embed="rId4">
            <a:alphaModFix/>
          </a:blip>
          <a:srcRect l="28499" t="35784" r="21977" b="-10133"/>
          <a:stretch/>
        </p:blipFill>
        <p:spPr>
          <a:xfrm rot="-5400000">
            <a:off x="5718946" y="1338207"/>
            <a:ext cx="2504700" cy="2509500"/>
          </a:xfrm>
          <a:prstGeom prst="diagStripe">
            <a:avLst>
              <a:gd name="adj" fmla="val 50445"/>
            </a:avLst>
          </a:prstGeom>
          <a:noFill/>
          <a:ln>
            <a:noFill/>
          </a:ln>
        </p:spPr>
      </p:pic>
      <p:pic>
        <p:nvPicPr>
          <p:cNvPr id="271" name="Google Shape;271;p22" descr="offset_comp_442889_edtied2.jpg"/>
          <p:cNvPicPr preferRelativeResize="0"/>
          <p:nvPr/>
        </p:nvPicPr>
        <p:blipFill rotWithShape="1">
          <a:blip r:embed="rId5">
            <a:alphaModFix/>
          </a:blip>
          <a:srcRect l="23925" t="16463" r="30743" b="15476"/>
          <a:stretch/>
        </p:blipFill>
        <p:spPr>
          <a:xfrm rot="5400000">
            <a:off x="6637386" y="2137210"/>
            <a:ext cx="2504700" cy="2509500"/>
          </a:xfrm>
          <a:prstGeom prst="diagStripe">
            <a:avLst>
              <a:gd name="adj" fmla="val 50445"/>
            </a:avLst>
          </a:prstGeom>
          <a:noFill/>
          <a:ln>
            <a:noFill/>
          </a:ln>
        </p:spPr>
      </p:pic>
      <p:sp>
        <p:nvSpPr>
          <p:cNvPr id="272" name="Google Shape;272;p22"/>
          <p:cNvSpPr/>
          <p:nvPr/>
        </p:nvSpPr>
        <p:spPr>
          <a:xfrm>
            <a:off x="7040600" y="3923575"/>
            <a:ext cx="2106350" cy="1222450"/>
          </a:xfrm>
          <a:custGeom>
            <a:avLst/>
            <a:gdLst/>
            <a:ahLst/>
            <a:cxnLst/>
            <a:rect l="l" t="t" r="r" b="b"/>
            <a:pathLst>
              <a:path w="84254" h="48898" extrusionOk="0">
                <a:moveTo>
                  <a:pt x="0" y="0"/>
                </a:moveTo>
                <a:lnTo>
                  <a:pt x="50319" y="0"/>
                </a:lnTo>
                <a:lnTo>
                  <a:pt x="84254" y="33935"/>
                </a:lnTo>
                <a:lnTo>
                  <a:pt x="84254" y="48898"/>
                </a:lnTo>
                <a:lnTo>
                  <a:pt x="48798" y="4889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3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4204500" cy="9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#2 – Catálogo dinámico CSV</a:t>
            </a:r>
            <a:endParaRPr/>
          </a:p>
        </p:txBody>
      </p:sp>
      <p:sp>
        <p:nvSpPr>
          <p:cNvPr id="278" name="Google Shape;278;p23"/>
          <p:cNvSpPr txBox="1">
            <a:spLocks noGrp="1"/>
          </p:cNvSpPr>
          <p:nvPr>
            <p:ph type="body" idx="1"/>
          </p:nvPr>
        </p:nvSpPr>
        <p:spPr>
          <a:xfrm>
            <a:off x="732550" y="1972550"/>
            <a:ext cx="43638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Script que exporta stock desde Jazz a CSV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CSV publicado en repositorio público (GitHub, Google Drive)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Página web hace fetch y renderiza productos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Ventaja: actualización simple, bajo costo, sin servidor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Limitación: solo lectura, no genera pedidos automáticos</a:t>
            </a:r>
            <a:endParaRPr/>
          </a:p>
        </p:txBody>
      </p:sp>
      <p:pic>
        <p:nvPicPr>
          <p:cNvPr id="279" name="Google Shape;279;p23" descr="offset_comp_267026.jpg"/>
          <p:cNvPicPr preferRelativeResize="0"/>
          <p:nvPr/>
        </p:nvPicPr>
        <p:blipFill rotWithShape="1">
          <a:blip r:embed="rId3">
            <a:alphaModFix/>
          </a:blip>
          <a:srcRect l="39740" t="41470" r="17180" b="-6208"/>
          <a:stretch/>
        </p:blipFill>
        <p:spPr>
          <a:xfrm rot="-5400000">
            <a:off x="5710147" y="2704980"/>
            <a:ext cx="2431500" cy="2436000"/>
          </a:xfrm>
          <a:prstGeom prst="diagStripe">
            <a:avLst>
              <a:gd name="adj" fmla="val 50445"/>
            </a:avLst>
          </a:prstGeom>
          <a:noFill/>
          <a:ln>
            <a:noFill/>
          </a:ln>
        </p:spPr>
      </p:pic>
      <p:pic>
        <p:nvPicPr>
          <p:cNvPr id="280" name="Google Shape;280;p23" descr="offset_comp_457517_edited2.jpg"/>
          <p:cNvPicPr preferRelativeResize="0"/>
          <p:nvPr/>
        </p:nvPicPr>
        <p:blipFill rotWithShape="1">
          <a:blip r:embed="rId4">
            <a:alphaModFix/>
          </a:blip>
          <a:srcRect l="28499" t="35784" r="21977" b="-10133"/>
          <a:stretch/>
        </p:blipFill>
        <p:spPr>
          <a:xfrm rot="-5400000">
            <a:off x="5718946" y="1338207"/>
            <a:ext cx="2504700" cy="2509500"/>
          </a:xfrm>
          <a:prstGeom prst="diagStripe">
            <a:avLst>
              <a:gd name="adj" fmla="val 50445"/>
            </a:avLst>
          </a:prstGeom>
          <a:noFill/>
          <a:ln>
            <a:noFill/>
          </a:ln>
        </p:spPr>
      </p:pic>
      <p:pic>
        <p:nvPicPr>
          <p:cNvPr id="281" name="Google Shape;281;p23" descr="offset_comp_442889_edtied2.jpg"/>
          <p:cNvPicPr preferRelativeResize="0"/>
          <p:nvPr/>
        </p:nvPicPr>
        <p:blipFill rotWithShape="1">
          <a:blip r:embed="rId5">
            <a:alphaModFix/>
          </a:blip>
          <a:srcRect l="23925" t="16463" r="30743" b="15476"/>
          <a:stretch/>
        </p:blipFill>
        <p:spPr>
          <a:xfrm rot="5400000">
            <a:off x="6637386" y="2137210"/>
            <a:ext cx="2504700" cy="2509500"/>
          </a:xfrm>
          <a:prstGeom prst="diagStripe">
            <a:avLst>
              <a:gd name="adj" fmla="val 50445"/>
            </a:avLst>
          </a:prstGeom>
          <a:noFill/>
          <a:ln>
            <a:noFill/>
          </a:ln>
        </p:spPr>
      </p:pic>
      <p:sp>
        <p:nvSpPr>
          <p:cNvPr id="282" name="Google Shape;282;p23"/>
          <p:cNvSpPr/>
          <p:nvPr/>
        </p:nvSpPr>
        <p:spPr>
          <a:xfrm>
            <a:off x="7040600" y="3923575"/>
            <a:ext cx="2106350" cy="1222450"/>
          </a:xfrm>
          <a:custGeom>
            <a:avLst/>
            <a:gdLst/>
            <a:ahLst/>
            <a:cxnLst/>
            <a:rect l="l" t="t" r="r" b="b"/>
            <a:pathLst>
              <a:path w="84254" h="48898" extrusionOk="0">
                <a:moveTo>
                  <a:pt x="0" y="0"/>
                </a:moveTo>
                <a:lnTo>
                  <a:pt x="50319" y="0"/>
                </a:lnTo>
                <a:lnTo>
                  <a:pt x="84254" y="33935"/>
                </a:lnTo>
                <a:lnTo>
                  <a:pt x="84254" y="48898"/>
                </a:lnTo>
                <a:lnTo>
                  <a:pt x="48798" y="4889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4204500" cy="9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#3 – Sistema de pedidos PDF</a:t>
            </a:r>
            <a:endParaRPr/>
          </a:p>
        </p:txBody>
      </p:sp>
      <p:sp>
        <p:nvSpPr>
          <p:cNvPr id="288" name="Google Shape;288;p24"/>
          <p:cNvSpPr txBox="1">
            <a:spLocks noGrp="1"/>
          </p:cNvSpPr>
          <p:nvPr>
            <p:ph type="body" idx="1"/>
          </p:nvPr>
        </p:nvSpPr>
        <p:spPr>
          <a:xfrm>
            <a:off x="732550" y="1972550"/>
            <a:ext cx="43638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Web con backend simple y base de datos externa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Registro/login de clientes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Catálogo dinámico editable vía CSV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Genera pedidos en PDF para cargar manualmente en Jazz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Ventaja: centraliza información de clientes, agiliza pedidos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Limitación: requiere servidor y mínimo mantenimiento</a:t>
            </a:r>
            <a:endParaRPr/>
          </a:p>
        </p:txBody>
      </p:sp>
      <p:pic>
        <p:nvPicPr>
          <p:cNvPr id="289" name="Google Shape;289;p24" descr="offset_comp_267026.jpg"/>
          <p:cNvPicPr preferRelativeResize="0"/>
          <p:nvPr/>
        </p:nvPicPr>
        <p:blipFill rotWithShape="1">
          <a:blip r:embed="rId3">
            <a:alphaModFix/>
          </a:blip>
          <a:srcRect l="39740" t="41470" r="17180" b="-6208"/>
          <a:stretch/>
        </p:blipFill>
        <p:spPr>
          <a:xfrm rot="-5400000">
            <a:off x="5710147" y="2704980"/>
            <a:ext cx="2431500" cy="2436000"/>
          </a:xfrm>
          <a:prstGeom prst="diagStripe">
            <a:avLst>
              <a:gd name="adj" fmla="val 50445"/>
            </a:avLst>
          </a:prstGeom>
          <a:noFill/>
          <a:ln>
            <a:noFill/>
          </a:ln>
        </p:spPr>
      </p:pic>
      <p:pic>
        <p:nvPicPr>
          <p:cNvPr id="290" name="Google Shape;290;p24" descr="offset_comp_457517_edited2.jpg"/>
          <p:cNvPicPr preferRelativeResize="0"/>
          <p:nvPr/>
        </p:nvPicPr>
        <p:blipFill rotWithShape="1">
          <a:blip r:embed="rId4">
            <a:alphaModFix/>
          </a:blip>
          <a:srcRect l="28499" t="35784" r="21977" b="-10133"/>
          <a:stretch/>
        </p:blipFill>
        <p:spPr>
          <a:xfrm rot="-5400000">
            <a:off x="5718946" y="1338207"/>
            <a:ext cx="2504700" cy="2509500"/>
          </a:xfrm>
          <a:prstGeom prst="diagStripe">
            <a:avLst>
              <a:gd name="adj" fmla="val 50445"/>
            </a:avLst>
          </a:prstGeom>
          <a:noFill/>
          <a:ln>
            <a:noFill/>
          </a:ln>
        </p:spPr>
      </p:pic>
      <p:pic>
        <p:nvPicPr>
          <p:cNvPr id="291" name="Google Shape;291;p24" descr="offset_comp_442889_edtied2.jpg"/>
          <p:cNvPicPr preferRelativeResize="0"/>
          <p:nvPr/>
        </p:nvPicPr>
        <p:blipFill rotWithShape="1">
          <a:blip r:embed="rId5">
            <a:alphaModFix/>
          </a:blip>
          <a:srcRect l="23925" t="16463" r="30743" b="15476"/>
          <a:stretch/>
        </p:blipFill>
        <p:spPr>
          <a:xfrm rot="5400000">
            <a:off x="6637386" y="2137210"/>
            <a:ext cx="2504700" cy="2509500"/>
          </a:xfrm>
          <a:prstGeom prst="diagStripe">
            <a:avLst>
              <a:gd name="adj" fmla="val 50445"/>
            </a:avLst>
          </a:prstGeom>
          <a:noFill/>
          <a:ln>
            <a:noFill/>
          </a:ln>
        </p:spPr>
      </p:pic>
      <p:sp>
        <p:nvSpPr>
          <p:cNvPr id="292" name="Google Shape;292;p24"/>
          <p:cNvSpPr/>
          <p:nvPr/>
        </p:nvSpPr>
        <p:spPr>
          <a:xfrm>
            <a:off x="7040600" y="3923575"/>
            <a:ext cx="2106350" cy="1222450"/>
          </a:xfrm>
          <a:custGeom>
            <a:avLst/>
            <a:gdLst/>
            <a:ahLst/>
            <a:cxnLst/>
            <a:rect l="l" t="t" r="r" b="b"/>
            <a:pathLst>
              <a:path w="84254" h="48898" extrusionOk="0">
                <a:moveTo>
                  <a:pt x="0" y="0"/>
                </a:moveTo>
                <a:lnTo>
                  <a:pt x="50319" y="0"/>
                </a:lnTo>
                <a:lnTo>
                  <a:pt x="84254" y="33935"/>
                </a:lnTo>
                <a:lnTo>
                  <a:pt x="84254" y="48898"/>
                </a:lnTo>
                <a:lnTo>
                  <a:pt x="48798" y="4889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4204500" cy="9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#4 – E-commerce completo</a:t>
            </a:r>
            <a:endParaRPr/>
          </a:p>
        </p:txBody>
      </p:sp>
      <p:sp>
        <p:nvSpPr>
          <p:cNvPr id="298" name="Google Shape;298;p25"/>
          <p:cNvSpPr txBox="1">
            <a:spLocks noGrp="1"/>
          </p:cNvSpPr>
          <p:nvPr>
            <p:ph type="body" idx="1"/>
          </p:nvPr>
        </p:nvSpPr>
        <p:spPr>
          <a:xfrm>
            <a:off x="732550" y="1972550"/>
            <a:ext cx="43638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Registro de clientes, carrito, pagos y stock automatizado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Integración parcial o futura con Jazz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Ventaja: completa automatización de pedidos y stock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Limitación: alto costo y complejidad, requiere mantenimiento profesional</a:t>
            </a:r>
            <a:endParaRPr/>
          </a:p>
        </p:txBody>
      </p:sp>
      <p:pic>
        <p:nvPicPr>
          <p:cNvPr id="299" name="Google Shape;299;p25" descr="offset_comp_267026.jpg"/>
          <p:cNvPicPr preferRelativeResize="0"/>
          <p:nvPr/>
        </p:nvPicPr>
        <p:blipFill rotWithShape="1">
          <a:blip r:embed="rId3">
            <a:alphaModFix/>
          </a:blip>
          <a:srcRect l="39740" t="41470" r="17180" b="-6208"/>
          <a:stretch/>
        </p:blipFill>
        <p:spPr>
          <a:xfrm rot="-5400000">
            <a:off x="5710147" y="2704980"/>
            <a:ext cx="2431500" cy="2436000"/>
          </a:xfrm>
          <a:prstGeom prst="diagStripe">
            <a:avLst>
              <a:gd name="adj" fmla="val 50445"/>
            </a:avLst>
          </a:prstGeom>
          <a:noFill/>
          <a:ln>
            <a:noFill/>
          </a:ln>
        </p:spPr>
      </p:pic>
      <p:pic>
        <p:nvPicPr>
          <p:cNvPr id="300" name="Google Shape;300;p25" descr="offset_comp_457517_edited2.jpg"/>
          <p:cNvPicPr preferRelativeResize="0"/>
          <p:nvPr/>
        </p:nvPicPr>
        <p:blipFill rotWithShape="1">
          <a:blip r:embed="rId4">
            <a:alphaModFix/>
          </a:blip>
          <a:srcRect l="28499" t="35784" r="21977" b="-10133"/>
          <a:stretch/>
        </p:blipFill>
        <p:spPr>
          <a:xfrm rot="-5400000">
            <a:off x="5718946" y="1338207"/>
            <a:ext cx="2504700" cy="2509500"/>
          </a:xfrm>
          <a:prstGeom prst="diagStripe">
            <a:avLst>
              <a:gd name="adj" fmla="val 50445"/>
            </a:avLst>
          </a:prstGeom>
          <a:noFill/>
          <a:ln>
            <a:noFill/>
          </a:ln>
        </p:spPr>
      </p:pic>
      <p:pic>
        <p:nvPicPr>
          <p:cNvPr id="301" name="Google Shape;301;p25" descr="offset_comp_442889_edtied2.jpg"/>
          <p:cNvPicPr preferRelativeResize="0"/>
          <p:nvPr/>
        </p:nvPicPr>
        <p:blipFill rotWithShape="1">
          <a:blip r:embed="rId5">
            <a:alphaModFix/>
          </a:blip>
          <a:srcRect l="23925" t="16463" r="30743" b="15476"/>
          <a:stretch/>
        </p:blipFill>
        <p:spPr>
          <a:xfrm rot="5400000">
            <a:off x="6637386" y="2137210"/>
            <a:ext cx="2504700" cy="2509500"/>
          </a:xfrm>
          <a:prstGeom prst="diagStripe">
            <a:avLst>
              <a:gd name="adj" fmla="val 50445"/>
            </a:avLst>
          </a:prstGeom>
          <a:noFill/>
          <a:ln>
            <a:noFill/>
          </a:ln>
        </p:spPr>
      </p:pic>
      <p:sp>
        <p:nvSpPr>
          <p:cNvPr id="302" name="Google Shape;302;p25"/>
          <p:cNvSpPr/>
          <p:nvPr/>
        </p:nvSpPr>
        <p:spPr>
          <a:xfrm>
            <a:off x="7040600" y="3923575"/>
            <a:ext cx="2106350" cy="1222450"/>
          </a:xfrm>
          <a:custGeom>
            <a:avLst/>
            <a:gdLst/>
            <a:ahLst/>
            <a:cxnLst/>
            <a:rect l="l" t="t" r="r" b="b"/>
            <a:pathLst>
              <a:path w="84254" h="48898" extrusionOk="0">
                <a:moveTo>
                  <a:pt x="0" y="0"/>
                </a:moveTo>
                <a:lnTo>
                  <a:pt x="50319" y="0"/>
                </a:lnTo>
                <a:lnTo>
                  <a:pt x="84254" y="33935"/>
                </a:lnTo>
                <a:lnTo>
                  <a:pt x="84254" y="48898"/>
                </a:lnTo>
                <a:lnTo>
                  <a:pt x="48798" y="4889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6"/>
          <p:cNvSpPr txBox="1">
            <a:spLocks noGrp="1"/>
          </p:cNvSpPr>
          <p:nvPr>
            <p:ph type="body" idx="1"/>
          </p:nvPr>
        </p:nvSpPr>
        <p:spPr>
          <a:xfrm>
            <a:off x="5243946" y="401782"/>
            <a:ext cx="2521576" cy="8029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-419" dirty="0"/>
              <a:t>Primer prototipo: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-419" dirty="0">
                <a:hlinkClick r:id="rId3"/>
              </a:rPr>
              <a:t>https://crisnamart.netlify.app/</a:t>
            </a:r>
            <a:endParaRPr lang="es-419" dirty="0"/>
          </a:p>
        </p:txBody>
      </p:sp>
      <p:pic>
        <p:nvPicPr>
          <p:cNvPr id="308" name="Google Shape;30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825" y="1554250"/>
            <a:ext cx="4279125" cy="3028124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6"/>
          <p:cNvSpPr txBox="1">
            <a:spLocks noGrp="1"/>
          </p:cNvSpPr>
          <p:nvPr>
            <p:ph type="body" idx="1"/>
          </p:nvPr>
        </p:nvSpPr>
        <p:spPr>
          <a:xfrm>
            <a:off x="1427017" y="529250"/>
            <a:ext cx="2639291" cy="9185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-419" dirty="0">
                <a:solidFill>
                  <a:schemeClr val="lt1"/>
                </a:solidFill>
              </a:rPr>
              <a:t>Original: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-AR" dirty="0">
                <a:solidFill>
                  <a:schemeClr val="lt1"/>
                </a:solidFill>
                <a:hlinkClick r:id="rId5"/>
              </a:rPr>
              <a:t>https://jazznube.com.ar/crisnamart/</a:t>
            </a:r>
            <a:endParaRPr dirty="0">
              <a:solidFill>
                <a:schemeClr val="lt1"/>
              </a:solidFill>
            </a:endParaRPr>
          </a:p>
        </p:txBody>
      </p:sp>
      <p:pic>
        <p:nvPicPr>
          <p:cNvPr id="310" name="Google Shape;310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53600" y="1345525"/>
            <a:ext cx="4117999" cy="344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Implementación actual:</a:t>
            </a:r>
            <a:endParaRPr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25991CB-F285-4801-DB7F-CA1A1A29E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33055" y="1447800"/>
            <a:ext cx="7103345" cy="3030950"/>
          </a:xfrm>
        </p:spPr>
        <p:txBody>
          <a:bodyPr/>
          <a:lstStyle/>
          <a:p>
            <a:r>
              <a:rPr lang="es-ES" dirty="0"/>
              <a:t>Se desarrolló una </a:t>
            </a:r>
            <a:r>
              <a:rPr lang="es-ES" b="1" dirty="0" err="1"/>
              <a:t>landing</a:t>
            </a:r>
            <a:r>
              <a:rPr lang="es-ES" b="1" dirty="0"/>
              <a:t> page institucional</a:t>
            </a:r>
            <a:r>
              <a:rPr lang="es-ES" dirty="0"/>
              <a:t> moderna utilizando </a:t>
            </a:r>
            <a:r>
              <a:rPr lang="es-ES" b="1" dirty="0" err="1"/>
              <a:t>Blazor</a:t>
            </a:r>
            <a:r>
              <a:rPr lang="es-ES" b="1" dirty="0"/>
              <a:t> </a:t>
            </a:r>
            <a:r>
              <a:rPr lang="es-ES" b="1" dirty="0" err="1"/>
              <a:t>WebAssembly</a:t>
            </a:r>
            <a:r>
              <a:rPr lang="es-ES" dirty="0"/>
              <a:t>.</a:t>
            </a:r>
          </a:p>
          <a:p>
            <a:r>
              <a:rPr lang="es-ES" dirty="0"/>
              <a:t>El sitio presenta una interfaz adaptable, con secciones de </a:t>
            </a:r>
            <a:r>
              <a:rPr lang="es-ES" b="1" dirty="0"/>
              <a:t>inicio, catálogo de productos, texto institucional</a:t>
            </a:r>
            <a:r>
              <a:rPr lang="es-ES" dirty="0"/>
              <a:t> y </a:t>
            </a:r>
            <a:r>
              <a:rPr lang="es-ES" b="1" dirty="0"/>
              <a:t>formulario de contacto</a:t>
            </a:r>
            <a:r>
              <a:rPr lang="es-ES" dirty="0"/>
              <a:t>.</a:t>
            </a:r>
          </a:p>
          <a:p>
            <a:r>
              <a:rPr lang="es-ES" dirty="0"/>
              <a:t>Incluye accesos a comunicación directa con </a:t>
            </a:r>
            <a:r>
              <a:rPr lang="es-ES" b="1" dirty="0"/>
              <a:t>WhatsApp</a:t>
            </a:r>
          </a:p>
          <a:p>
            <a:r>
              <a:rPr lang="es-ES" b="1" dirty="0"/>
              <a:t>Permite</a:t>
            </a:r>
            <a:r>
              <a:rPr lang="es-ES" dirty="0"/>
              <a:t> incorporar un </a:t>
            </a:r>
            <a:r>
              <a:rPr lang="es-ES" b="1" dirty="0"/>
              <a:t>catálogo visual</a:t>
            </a:r>
            <a:r>
              <a:rPr lang="es-ES" dirty="0"/>
              <a:t> con productos cargados localmente. </a:t>
            </a:r>
          </a:p>
          <a:p>
            <a:r>
              <a:rPr lang="es-ES" dirty="0"/>
              <a:t>La aplicación funciona de manera </a:t>
            </a:r>
            <a:r>
              <a:rPr lang="es-ES" b="1" dirty="0"/>
              <a:t>estática y offline</a:t>
            </a:r>
            <a:r>
              <a:rPr lang="es-ES" dirty="0"/>
              <a:t>, pudiendo alojarse sin costo en plataformas como </a:t>
            </a:r>
            <a:r>
              <a:rPr lang="es-ES" dirty="0" err="1"/>
              <a:t>Netlify</a:t>
            </a:r>
            <a:r>
              <a:rPr lang="es-ES" dirty="0"/>
              <a:t> o GitHub Pages.</a:t>
            </a:r>
          </a:p>
        </p:txBody>
      </p:sp>
    </p:spTree>
    <p:extLst>
      <p:ext uri="{BB962C8B-B14F-4D97-AF65-F5344CB8AC3E}">
        <p14:creationId xmlns:p14="http://schemas.microsoft.com/office/powerpoint/2010/main" val="3411106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0D963-12D2-A46B-810E-F4368AFEF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Posibles mejoras</a:t>
            </a:r>
            <a:br>
              <a:rPr lang="es-ES" b="1" dirty="0"/>
            </a:br>
            <a:endParaRPr lang="es-AR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547EE01-9848-EB20-7958-FDD440E1D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81546" y="1048004"/>
            <a:ext cx="7477419" cy="3849577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s-ES" sz="1200" b="1" dirty="0"/>
              <a:t>Catálogo dinámico mediante archivo CSV</a:t>
            </a:r>
            <a:br>
              <a:rPr lang="es-ES" sz="1200" dirty="0"/>
            </a:br>
            <a:r>
              <a:rPr lang="es-ES" sz="1200" dirty="0"/>
              <a:t>Permitiría actualizar los productos directamente desde el sistema actual mediante un archivo exportado.</a:t>
            </a:r>
            <a:br>
              <a:rPr lang="es-ES" sz="1200" dirty="0"/>
            </a:br>
            <a:r>
              <a:rPr lang="es-ES" sz="1200" dirty="0"/>
              <a:t>Requiere un </a:t>
            </a:r>
            <a:r>
              <a:rPr lang="es-ES" sz="1200" b="1" dirty="0"/>
              <a:t>servidor con API y base de datos liviana</a:t>
            </a:r>
            <a:r>
              <a:rPr lang="es-ES" sz="1200" dirty="0"/>
              <a:t> (por ejemplo, MySQL o SQLite) para almacenar información de productos, categorías e imágenes.</a:t>
            </a:r>
            <a:br>
              <a:rPr lang="es-ES" sz="1200" dirty="0"/>
            </a:br>
            <a:r>
              <a:rPr lang="es-ES" sz="1200" b="1" dirty="0"/>
              <a:t>Costo estimado:</a:t>
            </a:r>
            <a:r>
              <a:rPr lang="es-ES" sz="1200" dirty="0"/>
              <a:t> aprox. </a:t>
            </a:r>
            <a:r>
              <a:rPr lang="es-ES" sz="1200" b="1" dirty="0"/>
              <a:t>$8.000 – $12.000 anuales</a:t>
            </a:r>
            <a:r>
              <a:rPr lang="es-ES" sz="1200" dirty="0"/>
              <a:t> (hosting + mantenimiento básico).</a:t>
            </a:r>
          </a:p>
          <a:p>
            <a:pPr>
              <a:buFont typeface="+mj-lt"/>
              <a:buAutoNum type="arabicPeriod"/>
            </a:pPr>
            <a:r>
              <a:rPr lang="es-ES" sz="1200" b="1" dirty="0"/>
              <a:t>Sistema de pedidos con base de datos externa o envío directo</a:t>
            </a:r>
            <a:br>
              <a:rPr lang="es-ES" sz="1200" dirty="0"/>
            </a:br>
            <a:r>
              <a:rPr lang="es-ES" sz="1200" dirty="0"/>
              <a:t>Los clientes podrían generar pedidos online y recibir un </a:t>
            </a:r>
            <a:r>
              <a:rPr lang="es-ES" sz="1200" b="1" dirty="0"/>
              <a:t>PDF estructurado</a:t>
            </a:r>
            <a:r>
              <a:rPr lang="es-ES" sz="1200" dirty="0"/>
              <a:t> listo para su carga manual en Jazz Gestión.</a:t>
            </a:r>
            <a:br>
              <a:rPr lang="es-ES" sz="1200" dirty="0"/>
            </a:br>
            <a:r>
              <a:rPr lang="es-ES" sz="1200" dirty="0"/>
              <a:t>Puede implementarse </a:t>
            </a:r>
            <a:r>
              <a:rPr lang="es-ES" sz="1200" b="1" dirty="0"/>
              <a:t>sin servidor ni base de datos</a:t>
            </a:r>
            <a:r>
              <a:rPr lang="es-ES" sz="1200" dirty="0"/>
              <a:t> (enviando los formularios directamente por correo o WhatsApp), aunque sin validaciones ni persistencia.</a:t>
            </a:r>
            <a:br>
              <a:rPr lang="es-ES" sz="1200" dirty="0"/>
            </a:br>
            <a:r>
              <a:rPr lang="es-ES" sz="1200" b="1" dirty="0"/>
              <a:t>Costo estimado:</a:t>
            </a:r>
            <a:r>
              <a:rPr lang="es-ES" sz="1200" dirty="0"/>
              <a:t> </a:t>
            </a:r>
            <a:r>
              <a:rPr lang="es-ES" sz="1200" b="1" dirty="0"/>
              <a:t>$0</a:t>
            </a:r>
            <a:r>
              <a:rPr lang="es-ES" sz="1200" dirty="0"/>
              <a:t>, o el mismo que el punto anterior si se utiliza la base de datos del catálogo.</a:t>
            </a:r>
          </a:p>
          <a:p>
            <a:pPr>
              <a:buFont typeface="+mj-lt"/>
              <a:buAutoNum type="arabicPeriod"/>
            </a:pPr>
            <a:r>
              <a:rPr lang="es-ES" sz="1200" b="1" dirty="0"/>
              <a:t>E-</a:t>
            </a:r>
            <a:r>
              <a:rPr lang="es-ES" sz="1200" b="1" dirty="0" err="1"/>
              <a:t>commerce</a:t>
            </a:r>
            <a:r>
              <a:rPr lang="es-ES" sz="1200" b="1" dirty="0"/>
              <a:t> completo integrado con stock y facturación</a:t>
            </a:r>
            <a:br>
              <a:rPr lang="es-ES" sz="1200" dirty="0"/>
            </a:br>
            <a:r>
              <a:rPr lang="es-ES" sz="1200" dirty="0"/>
              <a:t>Permitiría registrar clientes, actualizar stock en tiempo real y generar comprobantes automáticos.</a:t>
            </a:r>
            <a:br>
              <a:rPr lang="es-ES" sz="1200" dirty="0"/>
            </a:br>
            <a:r>
              <a:rPr lang="es-ES" sz="1200" dirty="0"/>
              <a:t>Requiere </a:t>
            </a:r>
            <a:r>
              <a:rPr lang="es-ES" sz="1200" b="1" dirty="0"/>
              <a:t>integración directa con la base de datos de Jazz Gestión</a:t>
            </a:r>
            <a:r>
              <a:rPr lang="es-ES" sz="1200" dirty="0"/>
              <a:t> y soporte técnico especializado.</a:t>
            </a:r>
            <a:br>
              <a:rPr lang="es-ES" sz="1200" dirty="0"/>
            </a:br>
            <a:r>
              <a:rPr lang="es-ES" sz="1200" b="1" dirty="0"/>
              <a:t>Costo estimado:</a:t>
            </a:r>
            <a:r>
              <a:rPr lang="es-ES" sz="1200" dirty="0"/>
              <a:t> variable según alcance (</a:t>
            </a:r>
            <a:r>
              <a:rPr lang="es-ES" sz="1200" b="1" dirty="0"/>
              <a:t>implementación avanzada + mantenimiento mensual</a:t>
            </a:r>
            <a:r>
              <a:rPr lang="es-ES" sz="12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686325081"/>
      </p:ext>
    </p:extLst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879</Words>
  <Application>Microsoft Office PowerPoint</Application>
  <PresentationFormat>Presentación en pantalla (16:9)</PresentationFormat>
  <Paragraphs>68</Paragraphs>
  <Slides>14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Montserrat</vt:lpstr>
      <vt:lpstr>Lato</vt:lpstr>
      <vt:lpstr>Arial</vt:lpstr>
      <vt:lpstr>Roboto</vt:lpstr>
      <vt:lpstr>Focus</vt:lpstr>
      <vt:lpstr>Proyecto de Prácticas  Tecnicatura Superior en Análisis de Sistemas Prácticas Profesionalizantes I Bazar “Crisnamart” </vt:lpstr>
      <vt:lpstr>Presentación de PowerPoint</vt:lpstr>
      <vt:lpstr>Resumen del proyecto</vt:lpstr>
      <vt:lpstr>Presentación de PowerPoint</vt:lpstr>
      <vt:lpstr>Análisis de los problemas</vt:lpstr>
      <vt:lpstr>Objetivo del proyecto</vt:lpstr>
      <vt:lpstr>Propuestas de implementación</vt:lpstr>
      <vt:lpstr>#1 – Landing page institucional</vt:lpstr>
      <vt:lpstr>#2 – Catálogo dinámico CSV</vt:lpstr>
      <vt:lpstr>#3 – Sistema de pedidos PDF</vt:lpstr>
      <vt:lpstr>#4 – E-commerce completo</vt:lpstr>
      <vt:lpstr>Presentación de PowerPoint</vt:lpstr>
      <vt:lpstr>Implementación actual:</vt:lpstr>
      <vt:lpstr>Posibles mejoras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Alexander Seling</cp:lastModifiedBy>
  <cp:revision>3</cp:revision>
  <dcterms:modified xsi:type="dcterms:W3CDTF">2025-10-29T20:10:23Z</dcterms:modified>
</cp:coreProperties>
</file>